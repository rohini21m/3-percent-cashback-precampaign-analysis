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24743cfd-99bb-451b-b813-abb8945fe2b7.fntdata" /><ns0:Relationship Id="rIdFont15" Type="http://schemas.openxmlformats.org/officeDocument/2006/relationships/font" Target="fonts/1607d408-fec4-440f-b594-39257b799ec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5102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6887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PORTFOLIO ANALYTICS &amp; CAMPAIGN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8319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Blue Cash Portfolio Spend Analysis &amp; Campaign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12827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Evaluating baseline spend, customer segmentation, and the viability of the 3% cashback campaign for Q1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388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85900"/>
            <a:ext cx="533400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485900"/>
            <a:ext cx="5334000" cy="1743075"/>
          </a:xfrm>
          <a:prstGeom prst="roundRect">
            <a:avLst>
              <a:gd name="adj" fmla="val 874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582930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38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Business Context &amp; 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848350"/>
            <a:ext cx="1131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Key Finding: High-value tiers exhibit commercial spend skew, validating the $1,500 threshold for mass-market retail cardmembers.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1800225"/>
            <a:ext cx="61757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Business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143125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Propose a 3% cashback campaign for Blue Cash Everyday &amp; Preferred across Groceries, Restaurants, and Streaming to drive incremental spend beyond $1,500.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1800225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Inter"/>
              </a:rPr>
              <a:t>Data Telemetry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143125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369A1"/>
                </a:solidFill>
                <a:latin typeface="Inter"/>
              </a:rPr>
              <a:t>Synthesizing 5 core datasets covering 12-month baseline volume, transaction frequency, and Q1 2025 customer segmentation 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76900"/>
            <a:ext cx="38100" cy="5715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8115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48590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PORTFOLIO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8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Baseline Spend &amp; Category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867400"/>
            <a:ext cx="1131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Inter"/>
              </a:rPr>
              <a:t>Observation:</a:t>
            </a:r>
            <a:r>
              <a:rPr b="0" sz="1200" i="0" u="none">
                <a:solidFill>
                  <a:srgbClr val="991B1B"/>
                </a:solidFill>
                <a:latin typeface="Inter"/>
              </a:rPr>
              <a:t> Groceries and Restaurants represent over 60% of total portfolio baseline spend, forming the primary engine for Q1 promotional lift.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84785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Groceries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1526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$42.1M annual baseline; high monthly ticket stability across everyday accounts.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84785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Restaurants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1526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$77.8M combined annual volume (Dining + Cafes); high transactional velocity.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1752600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Streaming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2057400"/>
            <a:ext cx="3067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$44.2M baseline; recurring micro-transactions anchoring portfolio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0"/>
            <a:ext cx="10972800" cy="7620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486400"/>
            <a:ext cx="38100" cy="762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48590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58115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58115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CUSTOMER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8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Segment Distribution &amp; Value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676900"/>
            <a:ext cx="10572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Inter"/>
              </a:rPr>
              <a:t>Target Alignment:</a:t>
            </a:r>
            <a:r>
              <a:rPr b="0" sz="1200" i="0" u="none">
                <a:solidFill>
                  <a:srgbClr val="166534"/>
                </a:solidFill>
                <a:latin typeface="Inter"/>
              </a:rPr>
              <a:t> Medium-value accounts represent the exact sweet spot for the 3% cashback campaign to bridge their spend over the $1,500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75260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High-Value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057400"/>
            <a:ext cx="3067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28.5% of accounts driving ~64% of volume; average Q1 spend exceeds $8,200.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84785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Medium-Value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1526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41% of accounts; average Q1 spend sits between $1,000 and $1,499.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1847850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Low-Value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21526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30.5% of accounts; average Q1 spend under $420 with low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0"/>
            <a:ext cx="10972800" cy="762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486400"/>
            <a:ext cx="38100" cy="762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485900"/>
            <a:ext cx="5334000" cy="1581150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1485900"/>
            <a:ext cx="5334000" cy="1581150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CRITICAL SANITY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38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Why Raising Thresholds Beyond $1,500 is Unviable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676900"/>
            <a:ext cx="10572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Inter"/>
              </a:rPr>
              <a:t>Strategic Conclusion:</a:t>
            </a:r>
            <a:r>
              <a:rPr b="0" sz="1200" i="0" u="none">
                <a:solidFill>
                  <a:srgbClr val="B45309"/>
                </a:solidFill>
                <a:latin typeface="Inter"/>
              </a:rPr>
              <a:t> We must reject raising cashback thresholds toward $3,500. Doing so would alienate mass-market cardholders for whom $1,500 is a meaningful stretch goal.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1762125"/>
            <a:ext cx="62757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Real-World Consumer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105025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typical everyday consumer spends $3,500+ a quarter strictly on personal groceries, restaurants, and streaming unless operating a catering or small food business.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762125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Dataset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105025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 dataset lacks occupation flags. High-spending outliers ($8k+ Q1 spend) reflect commercial or mixed-use blurring, not standard retail cardmember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76900"/>
            <a:ext cx="38100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48590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48590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48590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ACTIONABLE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8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Q1 2025 Campaign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867400"/>
            <a:ext cx="11315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Next Steps:</a:t>
            </a:r>
            <a:r>
              <a:rPr b="0" sz="1200" i="0" u="none">
                <a:solidFill>
                  <a:srgbClr val="0369A1"/>
                </a:solidFill>
                <a:latin typeface="Inter"/>
              </a:rPr>
              <a:t> Approve business case structure based on the validated $1,500 threshold and segmented messaging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75260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Preserve $1,500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057400"/>
            <a:ext cx="3067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Keep the 3% cashback trigger accessible for mass-market retail spend activation.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752600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Segmented Targeting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057400"/>
            <a:ext cx="3067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Direct milestone push messaging to medium-tier accounts hovering near $1,000–$1,499.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1752600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Frequency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2057400"/>
            <a:ext cx="3067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Focus high-value accounts on transaction frequency rather than unrealistic spending hikes.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14813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33054" y="2671762"/>
            <a:ext cx="712589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86137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Thank you for reviewing the Blue Cash portfolio spend analysis and Q1 2025 campaign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